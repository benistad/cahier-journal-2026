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3" r:id="rId9"/>
    <p:sldId id="264" r:id="rId10"/>
    <p:sldId id="265" r:id="rId11"/>
    <p:sldId id="269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7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788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286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Histoire — CM2 · Thème 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20440" y="530352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1E2F5E"/>
          </a:solidFill>
          <a:ln w="12700">
            <a:solidFill>
              <a:srgbClr val="1E2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530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3 / 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896112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33CC"/>
                </a:solidFill>
                <a:uFill>
                  <a:solidFill>
                    <a:srgbClr val="CC00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Le Débarquement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0033CC"/>
                </a:solidFill>
                <a:uFill>
                  <a:solidFill>
                    <a:srgbClr val="CC00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et la Libération</a:t>
            </a:r>
            <a:endParaRPr lang="en-US" sz="4000" dirty="0"/>
          </a:p>
        </p:txBody>
      </p:sp>
      <p:sp>
        <p:nvSpPr>
          <p:cNvPr id="19" name="Shape 17"/>
          <p:cNvSpPr/>
          <p:nvPr/>
        </p:nvSpPr>
        <p:spPr>
          <a:xfrm>
            <a:off x="2286000" y="2176272"/>
            <a:ext cx="4572000" cy="411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286000"/>
            <a:ext cx="7863840" cy="1188720"/>
          </a:xfrm>
          <a:prstGeom prst="rect">
            <a:avLst/>
          </a:prstGeom>
          <a:solidFill>
            <a:srgbClr val="EEF5FC"/>
          </a:solidFill>
          <a:ln w="25400">
            <a:solidFill>
              <a:srgbClr val="4A90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2860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centrale :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Alliés ont-ils libéré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France à partir du 6 juin 1944 ?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4400" y="3611880"/>
            <a:ext cx="2331720" cy="457200"/>
          </a:xfrm>
          <a:prstGeom prst="rect">
            <a:avLst/>
          </a:prstGeom>
          <a:solidFill>
            <a:srgbClr val="1056A8"/>
          </a:solidFill>
          <a:ln w="12700">
            <a:solidFill>
              <a:srgbClr val="1056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611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6 juin 1944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3520440" y="3611880"/>
            <a:ext cx="2331720" cy="457200"/>
          </a:xfrm>
          <a:prstGeom prst="rect">
            <a:avLst/>
          </a:prstGeom>
          <a:solidFill>
            <a:srgbClr val="1D7A3A"/>
          </a:solidFill>
          <a:ln w="12700">
            <a:solidFill>
              <a:srgbClr val="1D7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3611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Normandie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26480" y="3611880"/>
            <a:ext cx="2331720" cy="45720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611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Les Alliés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85800" y="4279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France sous l'Occupation • 1940–1944 · D-Day · Libération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33CC"/>
                </a:solidFill>
                <a:uFill>
                  <a:solidFill>
                    <a:srgbClr val="CC00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de la classe de mer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640080" y="841248"/>
            <a:ext cx="8092440" cy="411480"/>
          </a:xfrm>
          <a:prstGeom prst="rect">
            <a:avLst/>
          </a:prstGeom>
          <a:solidFill>
            <a:srgbClr val="FFF4E0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841248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Vous avez vu les plages, vous avez visité le Mémorial de Caen…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1389888"/>
            <a:ext cx="8092440" cy="896112"/>
          </a:xfrm>
          <a:prstGeom prst="rect">
            <a:avLst/>
          </a:prstGeom>
          <a:solidFill>
            <a:srgbClr val="EEF5FC"/>
          </a:solidFill>
          <a:ln w="19050">
            <a:solidFill>
              <a:srgbClr val="4A90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1435608"/>
            <a:ext cx="7772400" cy="42062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Qu'avez-vous vu sur les plages du Débarquement ?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77240" y="1865376"/>
            <a:ext cx="768096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Décrivez : paysage, monuments, cimetières, fortifications...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2441448"/>
            <a:ext cx="8092440" cy="896112"/>
          </a:xfrm>
          <a:prstGeom prst="rect">
            <a:avLst/>
          </a:prstGeom>
          <a:solidFill>
            <a:srgbClr val="EEF5FC"/>
          </a:solidFill>
          <a:ln w="19050">
            <a:solidFill>
              <a:srgbClr val="4A90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487168"/>
            <a:ext cx="7772400" cy="42062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Qu'est-ce qui vous a le plus frappés au Mémorial de Caen ?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77240" y="2916936"/>
            <a:ext cx="768096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 témoignage, une photo, un chiffre, une date...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3493008"/>
            <a:ext cx="8092440" cy="896112"/>
          </a:xfrm>
          <a:prstGeom prst="rect">
            <a:avLst/>
          </a:prstGeom>
          <a:solidFill>
            <a:srgbClr val="EEF5FC"/>
          </a:solidFill>
          <a:ln w="19050">
            <a:solidFill>
              <a:srgbClr val="4A90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538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Quelle question aviez-vous notée sur votre fiche de visite ?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77240" y="39684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Relisez votre fiche — c'est l'heure des réponses 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3CC"/>
                </a:solidFill>
                <a:uFill>
                  <a:solidFill>
                    <a:srgbClr val="CC00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La France en 1944 — Le monde prépare la riposte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" y="914400"/>
            <a:ext cx="8092440" cy="1097280"/>
          </a:xfrm>
          <a:prstGeom prst="rect">
            <a:avLst/>
          </a:prstGeom>
          <a:solidFill>
            <a:srgbClr val="EEF5FC"/>
          </a:solidFill>
          <a:ln w="19050">
            <a:solidFill>
              <a:srgbClr val="4A90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9692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1940–1944 : quatre ans d'Occupation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1371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France est occupée depuis quatre ans. Des millions de Français vivent sous la domination nazie. La résistance intérieure sabote et informe, mais la France n'a pas encore été libérée.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2176272"/>
            <a:ext cx="8092440" cy="1097280"/>
          </a:xfrm>
          <a:prstGeom prst="rect">
            <a:avLst/>
          </a:prstGeom>
          <a:solidFill>
            <a:srgbClr val="EEF5FC"/>
          </a:solidFill>
          <a:ln w="19050">
            <a:solidFill>
              <a:srgbClr val="4A90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231136"/>
            <a:ext cx="777240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Les Alliés s'organisent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2633472"/>
            <a:ext cx="7772400" cy="5943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États-Unis, le Royaume-Uni, le Canada et d'autres pays alliés forment une coalition. Depuis 1943, ils planifient une grande opération militaire pour libérer l'Europe de l'Ouest occupée par l'Allemagne.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0080" y="3438144"/>
            <a:ext cx="8092440" cy="1097280"/>
          </a:xfrm>
          <a:prstGeom prst="rect">
            <a:avLst/>
          </a:prstGeom>
          <a:solidFill>
            <a:srgbClr val="FFF4E0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4930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L'Opération Overlord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3895344"/>
            <a:ext cx="7772400" cy="5943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plan s'appelle « Opération Overlord ». Des milliers de soldats s'entraînent en secret en Angleterre. Une flotte immense est rassemblée. La cible : les côtes normandes, tenues par les Allemands.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37160"/>
            <a:ext cx="8458200" cy="502920"/>
          </a:xfrm>
          <a:prstGeom prst="rect">
            <a:avLst/>
          </a:prstGeom>
          <a:solidFill>
            <a:srgbClr val="1056A8"/>
          </a:solidFill>
          <a:ln w="12700">
            <a:solidFill>
              <a:srgbClr val="1056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Document 1 — La carte du Débarquement</a:t>
            </a:r>
            <a:endParaRPr lang="en-US" sz="2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694944"/>
            <a:ext cx="5029200" cy="327489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742432" y="694944"/>
            <a:ext cx="3218688" cy="4389120"/>
          </a:xfrm>
          <a:prstGeom prst="rect">
            <a:avLst/>
          </a:prstGeom>
          <a:solidFill>
            <a:srgbClr val="F8FBFF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42432" y="694944"/>
            <a:ext cx="3218688" cy="310896"/>
          </a:xfrm>
          <a:prstGeom prst="rect">
            <a:avLst/>
          </a:prstGeom>
          <a:solidFill>
            <a:srgbClr val="1E2F5E"/>
          </a:solidFill>
          <a:ln w="12700">
            <a:solidFill>
              <a:srgbClr val="1E2F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42432" y="694944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(fiche élève)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788152" y="1002567"/>
            <a:ext cx="3127248" cy="749808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Cite les 5 plages dans l'ordre d'ouest en est.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788152" y="1816383"/>
            <a:ext cx="3127248" cy="749808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Quelle plage est attaquée en premier ? À quelle heure ?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788152" y="2630199"/>
            <a:ext cx="3127248" cy="749808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Pour chaque plage, quelle est la nationalité des soldats ?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788152" y="3444015"/>
            <a:ext cx="3127248" cy="749808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Que représentent les parachutes ? Comment appelle-t-on ces soldats ?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788152" y="4257831"/>
            <a:ext cx="3127248" cy="749808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Que représente la zone jaune sur la carte (voir la légende) 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37160"/>
            <a:ext cx="8458200" cy="502920"/>
          </a:xfrm>
          <a:prstGeom prst="rect">
            <a:avLst/>
          </a:prstGeom>
          <a:solidFill>
            <a:srgbClr val="1D4E7A"/>
          </a:solidFill>
          <a:ln w="12700">
            <a:solidFill>
              <a:srgbClr val="1D4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Document 2 — Les soldats alliés approchent la plage</a:t>
            </a:r>
            <a:endParaRPr lang="en-US" sz="2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713232"/>
            <a:ext cx="5303520" cy="39319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66928" y="46634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Péniches de débarquement américaines (LST) approchant Omaha Beach, juin 1944.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US Navy — National Archives — Domaine public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713232"/>
            <a:ext cx="2907792" cy="3931920"/>
          </a:xfrm>
          <a:prstGeom prst="rect">
            <a:avLst/>
          </a:prstGeom>
          <a:solidFill>
            <a:srgbClr val="EEF5FC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53328" y="713232"/>
            <a:ext cx="2907792" cy="310896"/>
          </a:xfrm>
          <a:prstGeom prst="rect">
            <a:avLst/>
          </a:prstGeom>
          <a:solidFill>
            <a:srgbClr val="1D4E7A"/>
          </a:solidFill>
          <a:ln w="12700">
            <a:solidFill>
              <a:srgbClr val="1D4E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53328" y="71323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099048" y="1078992"/>
            <a:ext cx="2816352" cy="1417320"/>
          </a:xfrm>
          <a:prstGeom prst="rect">
            <a:avLst/>
          </a:prstGeom>
          <a:noFill/>
          <a:ln/>
        </p:spPr>
        <p:txBody>
          <a:bodyPr wrap="square" lIns="63500" tIns="88900" rIns="88900" bIns="6350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Décris ce que tu vois sur la photographie.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099048" y="2587752"/>
            <a:ext cx="2816352" cy="1417320"/>
          </a:xfrm>
          <a:prstGeom prst="rect">
            <a:avLst/>
          </a:prstGeom>
          <a:noFill/>
          <a:ln/>
        </p:spPr>
        <p:txBody>
          <a:bodyPr wrap="square" lIns="63500" tIns="88900" rIns="88900" bIns="6350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À quoi vois-tu que ces soldats sont américains ?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D'après la carte, vers quelle plage se dirigent-ils peut-être ?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01168" y="50800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01168" y="93980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01168" y="137160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01168" y="180340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01168" y="223520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01168" y="266700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01168" y="309880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01168" y="353060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01168" y="396240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01168" y="439420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01168" y="482600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02920" y="137160"/>
            <a:ext cx="8458200" cy="502920"/>
          </a:xfrm>
          <a:prstGeom prst="rect">
            <a:avLst/>
          </a:prstGeom>
          <a:solidFill>
            <a:srgbClr val="0E6B0E"/>
          </a:solidFill>
          <a:ln w="12700">
            <a:solidFill>
              <a:srgbClr val="0E6B0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008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Correction — Documents 1 &amp; 2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0080" y="658368"/>
            <a:ext cx="8092440" cy="279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Les 5 plages d'ouest en est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965200"/>
            <a:ext cx="8092440" cy="558800"/>
          </a:xfrm>
          <a:prstGeom prst="rect">
            <a:avLst/>
          </a:prstGeom>
          <a:solidFill>
            <a:srgbClr val="F0FDF4"/>
          </a:solidFill>
          <a:ln w="25400">
            <a:solidFill>
              <a:srgbClr val="0E6B0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31520" y="965200"/>
            <a:ext cx="7909560" cy="558800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E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Utah → Omaha → Gold → Juno → Sword.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1524000"/>
            <a:ext cx="8092440" cy="279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Première plage attaquée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1828800"/>
            <a:ext cx="8092440" cy="558800"/>
          </a:xfrm>
          <a:prstGeom prst="rect">
            <a:avLst/>
          </a:prstGeom>
          <a:solidFill>
            <a:srgbClr val="F0FDF4"/>
          </a:solidFill>
          <a:ln w="25400">
            <a:solidFill>
              <a:srgbClr val="0E6B0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31520" y="1828800"/>
            <a:ext cx="7909560" cy="558800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E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Utah est attaquée en premier, à 4h30 du matin.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" y="2387600"/>
            <a:ext cx="8092440" cy="279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Nationalités par plage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2692400"/>
            <a:ext cx="8092440" cy="558800"/>
          </a:xfrm>
          <a:prstGeom prst="rect">
            <a:avLst/>
          </a:prstGeom>
          <a:solidFill>
            <a:srgbClr val="F0FDF4"/>
          </a:solidFill>
          <a:ln w="25400">
            <a:solidFill>
              <a:srgbClr val="0E6B0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31520" y="2692400"/>
            <a:ext cx="7909560" cy="558800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E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Utah &amp; Omaha → États-Unis (drapeaux américains). Gold &amp; Sword → Royaume-Uni. Juno → Canada.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0080" y="3251200"/>
            <a:ext cx="8092440" cy="279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Les parachutes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40080" y="3556000"/>
            <a:ext cx="8092440" cy="558800"/>
          </a:xfrm>
          <a:prstGeom prst="rect">
            <a:avLst/>
          </a:prstGeom>
          <a:solidFill>
            <a:srgbClr val="F0FDF4"/>
          </a:solidFill>
          <a:ln w="25400">
            <a:solidFill>
              <a:srgbClr val="0E6B0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731520" y="3556000"/>
            <a:ext cx="7909560" cy="558800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E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Les parachutes représentent des soldats aéroportés (parachutistes) largués de nuit pour sécuriser l'arrière-pays avant le débarquement par la mer.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0080" y="4114800"/>
            <a:ext cx="8092440" cy="279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La zone jaune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40080" y="4419600"/>
            <a:ext cx="8092440" cy="558800"/>
          </a:xfrm>
          <a:prstGeom prst="rect">
            <a:avLst/>
          </a:prstGeom>
          <a:solidFill>
            <a:srgbClr val="F0FDF4"/>
          </a:solidFill>
          <a:ln w="25400">
            <a:solidFill>
              <a:srgbClr val="0E6B0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31520" y="4419600"/>
            <a:ext cx="7909560" cy="558800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E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 zone jaune (tête de pont) représente la zone libérée par les Alliés au soir du 6 juin 1944 — le territoire conquis en une seule journée.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60329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033CC"/>
                </a:solidFill>
                <a:uFill>
                  <a:solidFill>
                    <a:srgbClr val="CC00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 Débarquement : la France se libère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621792" y="914400"/>
            <a:ext cx="1920240" cy="438912"/>
          </a:xfrm>
          <a:prstGeom prst="rect">
            <a:avLst/>
          </a:prstGeom>
          <a:solidFill>
            <a:srgbClr val="1056A8"/>
          </a:solidFill>
          <a:ln w="12700">
            <a:solidFill>
              <a:srgbClr val="1056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9144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juin 1944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" y="1371600"/>
            <a:ext cx="1920240" cy="3200400"/>
          </a:xfrm>
          <a:prstGeom prst="rect">
            <a:avLst/>
          </a:prstGeom>
          <a:solidFill>
            <a:srgbClr val="F5F8FF"/>
          </a:solidFill>
          <a:ln w="25400">
            <a:solidFill>
              <a:srgbClr val="1056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14447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Débarquement en Normandie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2011680"/>
            <a:ext cx="1792224" cy="242316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navires, 11 000 avions, 156 000 soldats débarquent sur les côtes normandes en une seule journée.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569464" y="1115568"/>
            <a:ext cx="146304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51176" y="10424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24912" y="914400"/>
            <a:ext cx="1920240" cy="438912"/>
          </a:xfrm>
          <a:prstGeom prst="rect">
            <a:avLst/>
          </a:prstGeom>
          <a:solidFill>
            <a:srgbClr val="1D7A3A"/>
          </a:solidFill>
          <a:ln w="12700">
            <a:solidFill>
              <a:srgbClr val="1D7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24912" y="9144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Été 1944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24912" y="1371600"/>
            <a:ext cx="1920240" cy="3200400"/>
          </a:xfrm>
          <a:prstGeom prst="rect">
            <a:avLst/>
          </a:prstGeom>
          <a:solidFill>
            <a:srgbClr val="F5F8FF"/>
          </a:solidFill>
          <a:ln w="25400">
            <a:solidFill>
              <a:srgbClr val="1D7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14447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combats en Normandie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788920" y="2011680"/>
            <a:ext cx="1792224" cy="242316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2 mois, des batailles violentes font rage. Les Alliés progressent vers Paris. Des villages sont libérés un par un.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72584" y="1115568"/>
            <a:ext cx="146304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54296" y="10424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28032" y="914400"/>
            <a:ext cx="1920240" cy="438912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9144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août 1944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28032" y="1371600"/>
            <a:ext cx="1920240" cy="3200400"/>
          </a:xfrm>
          <a:prstGeom prst="rect">
            <a:avLst/>
          </a:prstGeom>
          <a:solidFill>
            <a:srgbClr val="F5F8FF"/>
          </a:solidFill>
          <a:ln w="25400">
            <a:solidFill>
              <a:srgbClr val="CC33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4447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Libération de Paris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892040" y="2011680"/>
            <a:ext cx="1792224" cy="242316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Alliés et la Résistance libèrent Paris. Le général de Gaulle défile sur les Champs-Élysées. La foule est en liesse.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775704" y="1115568"/>
            <a:ext cx="146304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57416" y="10424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931152" y="914400"/>
            <a:ext cx="1920240" cy="438912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1152" y="9144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1945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931152" y="1371600"/>
            <a:ext cx="1920240" cy="3200400"/>
          </a:xfrm>
          <a:prstGeom prst="rect">
            <a:avLst/>
          </a:prstGeom>
          <a:solidFill>
            <a:srgbClr val="F5F8FF"/>
          </a:solidFill>
          <a:ln w="25400">
            <a:solidFill>
              <a:srgbClr val="8B2F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14447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2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capitulation de l'Allemagne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995160" y="2011680"/>
            <a:ext cx="1792224" cy="242316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L'Allemagne capitule le 8 mai 1945. La guerre en Europe est terminée. La France est entièrement libérée.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37160"/>
            <a:ext cx="8458200" cy="50292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Document 3 — Témoignage d'un civil normand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66928" y="713232"/>
            <a:ext cx="5303520" cy="4343400"/>
          </a:xfrm>
          <a:prstGeom prst="rect">
            <a:avLst/>
          </a:prstGeom>
          <a:solidFill>
            <a:srgbClr val="FFF8F0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7498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885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Témoignage de Lucienne, 15 ans, juin 1944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i="1" dirty="0">
                <a:solidFill>
                  <a:srgbClr val="885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(témoignage adapté à des fins pédagogiques)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1234440"/>
            <a:ext cx="5120640" cy="365760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"J'avais 15 ans quand le Débarquement a commencé. Dans la nuit du 5 au 6 juin, des bombardements terribles ont réveillé tout le village. Avec ma famille, nous nous sommes réfugiés dans la cave de la ferme.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 matin, des soldats que je n'avais jamais vus ont traversé notre village en courant. Ils parlaient anglais. Mon père m'a dit : 'Ce sont les Américains, ils viennent nous libérer.'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 les combats ont duré plusieurs semaines. Certaines maisons ont été détruites. Des voisins ont tout perdu.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Puis, un matin, les soldats allemands ont disparu. Les Alliés avaient gagné. Nous sommes sortis dans la rue en pleurant de joie. C'était la Libération."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16752" y="713232"/>
            <a:ext cx="2944368" cy="4343400"/>
          </a:xfrm>
          <a:prstGeom prst="rect">
            <a:avLst/>
          </a:prstGeom>
          <a:solidFill>
            <a:srgbClr val="EEF5FC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16752" y="713232"/>
            <a:ext cx="2944368" cy="310896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16752" y="71323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62472" y="1078992"/>
            <a:ext cx="2852928" cy="1170432"/>
          </a:xfrm>
          <a:prstGeom prst="rect">
            <a:avLst/>
          </a:prstGeom>
          <a:noFill/>
          <a:ln/>
        </p:spPr>
        <p:txBody>
          <a:bodyPr wrap="square" lIns="63500" tIns="88900" rIns="88900" bIns="6350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Où se réfugie la famille de Lucienne au début du Débarquement ?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062472" y="2359152"/>
            <a:ext cx="2852928" cy="1170432"/>
          </a:xfrm>
          <a:prstGeom prst="rect">
            <a:avLst/>
          </a:prstGeom>
          <a:noFill/>
          <a:ln/>
        </p:spPr>
        <p:txBody>
          <a:bodyPr wrap="square" lIns="63500" tIns="88900" rIns="88900" bIns="6350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Comment réagit la population à l'arrivée des soldats alliés ?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062472" y="3639312"/>
            <a:ext cx="2852928" cy="1170432"/>
          </a:xfrm>
          <a:prstGeom prst="rect">
            <a:avLst/>
          </a:prstGeom>
          <a:noFill/>
          <a:ln/>
        </p:spPr>
        <p:txBody>
          <a:bodyPr wrap="square" lIns="63500" tIns="88900" rIns="88900" bIns="6350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La Libération est-elle immédiate ? Justifie.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37160"/>
            <a:ext cx="8458200" cy="50292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Correction — Document 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0080" y="804672"/>
            <a:ext cx="809244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Où se réfugie la famille 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1170432"/>
            <a:ext cx="8092440" cy="658368"/>
          </a:xfrm>
          <a:prstGeom prst="rect">
            <a:avLst/>
          </a:prstGeom>
          <a:solidFill>
            <a:srgbClr val="F0FDF4"/>
          </a:solidFill>
          <a:ln w="25400">
            <a:solidFill>
              <a:srgbClr val="0E6B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1170432"/>
            <a:ext cx="7909560" cy="658368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E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 famille se réfugie dans la cave de la ferme, pour se protéger des bombardements.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2176272"/>
            <a:ext cx="809244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Réaction de la population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2542032"/>
            <a:ext cx="8092440" cy="658368"/>
          </a:xfrm>
          <a:prstGeom prst="rect">
            <a:avLst/>
          </a:prstGeom>
          <a:solidFill>
            <a:srgbClr val="F0FDF4"/>
          </a:solidFill>
          <a:ln w="25400">
            <a:solidFill>
              <a:srgbClr val="0E6B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542032"/>
            <a:ext cx="7909560" cy="658368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E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 population accueille les soldats alliés avec joie et soulagement. Les habitants sortent dans la rue en pleurant de joie.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" y="3547872"/>
            <a:ext cx="8092440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La Libération est-elle immédiate ?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3913632"/>
            <a:ext cx="8092440" cy="658368"/>
          </a:xfrm>
          <a:prstGeom prst="rect">
            <a:avLst/>
          </a:prstGeom>
          <a:solidFill>
            <a:srgbClr val="F0FDF4"/>
          </a:solidFill>
          <a:ln w="25400">
            <a:solidFill>
              <a:srgbClr val="0E6B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913632"/>
            <a:ext cx="7909560" cy="658368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E6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Non. Les combats ont duré plusieurs semaines. Des maisons ont été détruites. La Libération est progressive, pas instantanée.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033CC"/>
                </a:solidFill>
                <a:uFill>
                  <a:solidFill>
                    <a:srgbClr val="CC00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La Libération de la France — frise chronologique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777240" y="2359152"/>
            <a:ext cx="7772400" cy="914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17320" y="2231136"/>
            <a:ext cx="256032" cy="256032"/>
          </a:xfrm>
          <a:prstGeom prst="ellipse">
            <a:avLst/>
          </a:prstGeom>
          <a:solidFill>
            <a:srgbClr val="1056A8"/>
          </a:solidFill>
          <a:ln w="12700">
            <a:solidFill>
              <a:srgbClr val="1056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juin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92883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Débarquement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Normandie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536192" y="1874520"/>
            <a:ext cx="36576" cy="347472"/>
          </a:xfrm>
          <a:prstGeom prst="rect">
            <a:avLst/>
          </a:prstGeom>
          <a:solidFill>
            <a:srgbClr val="1056A8"/>
          </a:solidFill>
          <a:ln w="12700">
            <a:solidFill>
              <a:srgbClr val="1056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2231136"/>
            <a:ext cx="256032" cy="256032"/>
          </a:xfrm>
          <a:prstGeom prst="ellipse">
            <a:avLst/>
          </a:prstGeom>
          <a:solidFill>
            <a:srgbClr val="1D7A3A"/>
          </a:solidFill>
          <a:ln w="12700">
            <a:solidFill>
              <a:srgbClr val="1D7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26334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Été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69748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Normandie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502152" y="2468880"/>
            <a:ext cx="36576" cy="164592"/>
          </a:xfrm>
          <a:prstGeom prst="rect">
            <a:avLst/>
          </a:prstGeom>
          <a:solidFill>
            <a:srgbClr val="1D7A3A"/>
          </a:solidFill>
          <a:ln w="12700">
            <a:solidFill>
              <a:srgbClr val="1D7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49240" y="2231136"/>
            <a:ext cx="256032" cy="256032"/>
          </a:xfrm>
          <a:prstGeom prst="ellipse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2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août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8B2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45152" y="9098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Débarquement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Provence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68112" y="1874520"/>
            <a:ext cx="36576" cy="347472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86600" y="2231136"/>
            <a:ext cx="256032" cy="256032"/>
          </a:xfrm>
          <a:prstGeom prst="ellipse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6334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août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0080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Libération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Paris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05472" y="2468880"/>
            <a:ext cx="36576" cy="164592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3858768"/>
            <a:ext cx="7955280" cy="530352"/>
          </a:xfrm>
          <a:prstGeom prst="rect">
            <a:avLst/>
          </a:prstGeom>
          <a:solidFill>
            <a:srgbClr val="1E2F5E"/>
          </a:solidFill>
          <a:ln w="12700">
            <a:solidFill>
              <a:srgbClr val="1E2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85876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8 mai 1945 — Capitulation de l'Allemagne • Fin de la guerre en Europe • La France est libérée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>
            <a:spLocks noGrp="1"/>
          </p:cNvSpPr>
          <p:nvPr/>
        </p:nvSpPr>
        <p:spPr>
          <a:xfrm>
            <a:off x="0" y="0"/>
            <a:ext cx="9144000" cy="50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/>
          <a:lstStyle/>
          <a:p>
            <a:endParaRPr lang="fr-FR" dirty="0"/>
          </a:p>
        </p:txBody>
      </p:sp>
      <p:sp>
        <p:nvSpPr>
          <p:cNvPr id="101" name="S101"/>
          <p:cNvSpPr>
            <a:spLocks noGrp="1"/>
          </p:cNvSpPr>
          <p:nvPr/>
        </p:nvSpPr>
        <p:spPr>
          <a:xfrm>
            <a:off x="0" y="508000"/>
            <a:ext cx="9144000" cy="4114800"/>
          </a:xfrm>
          <a:prstGeom prst="rect">
            <a:avLst/>
          </a:prstGeom>
          <a:solidFill>
            <a:srgbClr val="D6EAF8"/>
          </a:solidFill>
          <a:ln w="9525">
            <a:solidFill>
              <a:srgbClr val="9BB8D4"/>
            </a:solidFill>
          </a:ln>
        </p:spPr>
        <p:txBody>
          <a:bodyPr wrap="square" lIns="91440" tIns="45720" rIns="91440" bIns="45720"/>
          <a:lstStyle/>
          <a:p>
            <a:endParaRPr lang="fr-FR" dirty="0"/>
          </a:p>
        </p:txBody>
      </p:sp>
      <p:sp>
        <p:nvSpPr>
          <p:cNvPr id="102" name="S102"/>
          <p:cNvSpPr>
            <a:spLocks noGrp="1"/>
          </p:cNvSpPr>
          <p:nvPr/>
        </p:nvSpPr>
        <p:spPr>
          <a:xfrm>
            <a:off x="0" y="4140200"/>
            <a:ext cx="9144000" cy="520700"/>
          </a:xfrm>
          <a:prstGeom prst="rect">
            <a:avLst/>
          </a:prstGeom>
          <a:solidFill>
            <a:srgbClr val="1F3C73"/>
          </a:solidFill>
          <a:ln>
            <a:noFill/>
          </a:ln>
        </p:spPr>
        <p:txBody>
          <a:bodyPr wrap="square" lIns="91440" tIns="45720" rIns="91440" bIns="45720"/>
          <a:lstStyle/>
          <a:p>
            <a:endParaRPr lang="fr-FR" dirty="0"/>
          </a:p>
        </p:txBody>
      </p:sp>
      <p:sp>
        <p:nvSpPr>
          <p:cNvPr id="103" name="S103"/>
          <p:cNvSpPr>
            <a:spLocks noGrp="1"/>
          </p:cNvSpPr>
          <p:nvPr/>
        </p:nvSpPr>
        <p:spPr>
          <a:xfrm>
            <a:off x="177800" y="76200"/>
            <a:ext cx="87884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 algn="l">
              <a:buNone/>
            </a:pPr>
            <a:r>
              <a:rPr lang="fr-FR" sz="2300" b="1" dirty="0">
                <a:solidFill>
                  <a:srgbClr val="0033CC"/>
                </a:solidFill>
                <a:latin typeface="Calibri"/>
              </a:rPr>
              <a:t>📝 Leçon — Le Débarquement et la Libération</a:t>
            </a:r>
          </a:p>
        </p:txBody>
      </p:sp>
      <p:sp>
        <p:nvSpPr>
          <p:cNvPr id="104" name="S104"/>
          <p:cNvSpPr>
            <a:spLocks noGrp="1"/>
          </p:cNvSpPr>
          <p:nvPr/>
        </p:nvSpPr>
        <p:spPr>
          <a:xfrm>
            <a:off x="177800" y="596900"/>
            <a:ext cx="87884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 algn="l">
              <a:buNone/>
            </a:pPr>
            <a:r>
              <a:rPr lang="fr-FR" sz="1500" b="1" u="sng" dirty="0">
                <a:solidFill>
                  <a:srgbClr val="8B2500"/>
                </a:solidFill>
                <a:latin typeface="Calibri"/>
              </a:rPr>
              <a:t>🌊 Le Débarquement — 6 juin 1944</a:t>
            </a:r>
          </a:p>
        </p:txBody>
      </p:sp>
      <p:sp>
        <p:nvSpPr>
          <p:cNvPr id="105" name="S105"/>
          <p:cNvSpPr>
            <a:spLocks noGrp="1"/>
          </p:cNvSpPr>
          <p:nvPr/>
        </p:nvSpPr>
        <p:spPr>
          <a:xfrm>
            <a:off x="177800" y="889000"/>
            <a:ext cx="8788400" cy="25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txBody>
          <a:bodyPr wrap="square" lIns="91440" tIns="45720" rIns="91440" bIns="45720"/>
          <a:lstStyle/>
          <a:p>
            <a:endParaRPr lang="fr-FR" dirty="0"/>
          </a:p>
        </p:txBody>
      </p:sp>
      <p:sp>
        <p:nvSpPr>
          <p:cNvPr id="106" name="S106"/>
          <p:cNvSpPr>
            <a:spLocks noGrp="1"/>
          </p:cNvSpPr>
          <p:nvPr/>
        </p:nvSpPr>
        <p:spPr>
          <a:xfrm>
            <a:off x="228600" y="927100"/>
            <a:ext cx="873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 algn="l">
              <a:buNone/>
            </a:pPr>
            <a:r>
              <a:rPr lang="fr-FR" sz="1400" dirty="0">
                <a:solidFill>
                  <a:srgbClr val="003399"/>
                </a:solidFill>
                <a:latin typeface="Calibri"/>
              </a:rPr>
              <a:t>Le 6 juin 1944, les Alliés (États-Unis, Royaume-Uni, Canada) débarquent en Normandie lors de l’</a:t>
            </a:r>
            <a:r>
              <a:rPr lang="fr-FR" sz="1400" b="1" dirty="0">
                <a:solidFill>
                  <a:srgbClr val="CC0000"/>
                </a:solidFill>
                <a:latin typeface="Calibri"/>
              </a:rPr>
              <a:t>Opération Overlord</a:t>
            </a:r>
            <a:r>
              <a:rPr lang="fr-FR" sz="1400" dirty="0">
                <a:solidFill>
                  <a:srgbClr val="003399"/>
                </a:solidFill>
                <a:latin typeface="Calibri"/>
              </a:rPr>
              <a:t>.</a:t>
            </a:r>
          </a:p>
          <a:p>
            <a:pPr marL="0" indent="0" algn="l">
              <a:buNone/>
            </a:pPr>
            <a:r>
              <a:rPr lang="fr-FR" sz="1400" dirty="0">
                <a:solidFill>
                  <a:srgbClr val="003399"/>
                </a:solidFill>
                <a:latin typeface="Calibri"/>
              </a:rPr>
              <a:t>C’est la plus grande opération militaire de l’Histoire : 5 000 navires, 156 000 soldats en un jour.</a:t>
            </a:r>
          </a:p>
        </p:txBody>
      </p:sp>
      <p:sp>
        <p:nvSpPr>
          <p:cNvPr id="107" name="S107"/>
          <p:cNvSpPr>
            <a:spLocks noGrp="1"/>
          </p:cNvSpPr>
          <p:nvPr/>
        </p:nvSpPr>
        <p:spPr>
          <a:xfrm>
            <a:off x="177800" y="1778000"/>
            <a:ext cx="87884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 algn="l">
              <a:buNone/>
            </a:pPr>
            <a:r>
              <a:rPr lang="fr-FR" sz="1500" b="1" u="sng" dirty="0">
                <a:solidFill>
                  <a:srgbClr val="8B2500"/>
                </a:solidFill>
                <a:latin typeface="Calibri"/>
              </a:rPr>
              <a:t>🇫🇷 La Libération progressive de la France</a:t>
            </a:r>
          </a:p>
        </p:txBody>
      </p:sp>
      <p:sp>
        <p:nvSpPr>
          <p:cNvPr id="108" name="S108"/>
          <p:cNvSpPr>
            <a:spLocks noGrp="1"/>
          </p:cNvSpPr>
          <p:nvPr/>
        </p:nvSpPr>
        <p:spPr>
          <a:xfrm>
            <a:off x="177800" y="2070100"/>
            <a:ext cx="8788400" cy="25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txBody>
          <a:bodyPr wrap="square" lIns="91440" tIns="45720" rIns="91440" bIns="45720"/>
          <a:lstStyle/>
          <a:p>
            <a:endParaRPr lang="fr-FR" dirty="0"/>
          </a:p>
        </p:txBody>
      </p:sp>
      <p:sp>
        <p:nvSpPr>
          <p:cNvPr id="109" name="S109"/>
          <p:cNvSpPr>
            <a:spLocks noGrp="1"/>
          </p:cNvSpPr>
          <p:nvPr/>
        </p:nvSpPr>
        <p:spPr>
          <a:xfrm>
            <a:off x="228600" y="2108200"/>
            <a:ext cx="87376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 algn="l">
              <a:buNone/>
            </a:pPr>
            <a:r>
              <a:rPr lang="fr-FR" sz="1400" dirty="0">
                <a:solidFill>
                  <a:srgbClr val="003399"/>
                </a:solidFill>
                <a:latin typeface="Calibri"/>
              </a:rPr>
              <a:t>Pendant l’été 1944, les Alliés </a:t>
            </a:r>
            <a:r>
              <a:rPr lang="fr-FR" sz="1400" b="1" dirty="0">
                <a:solidFill>
                  <a:srgbClr val="CC0000"/>
                </a:solidFill>
                <a:latin typeface="Calibri"/>
              </a:rPr>
              <a:t>libèrent la France progressivement</a:t>
            </a:r>
            <a:r>
              <a:rPr lang="fr-FR" sz="1400" dirty="0">
                <a:solidFill>
                  <a:srgbClr val="003399"/>
                </a:solidFill>
                <a:latin typeface="Calibri"/>
              </a:rPr>
              <a:t>, ville par ville.</a:t>
            </a:r>
          </a:p>
          <a:p>
            <a:pPr marL="0" indent="0" algn="l">
              <a:buNone/>
            </a:pPr>
            <a:r>
              <a:rPr lang="fr-FR" sz="1400" dirty="0">
                <a:solidFill>
                  <a:srgbClr val="003399"/>
                </a:solidFill>
                <a:latin typeface="Calibri"/>
              </a:rPr>
              <a:t>Le </a:t>
            </a:r>
            <a:r>
              <a:rPr lang="fr-FR" sz="1400" b="1" dirty="0">
                <a:solidFill>
                  <a:srgbClr val="CC0000"/>
                </a:solidFill>
                <a:latin typeface="Calibri"/>
              </a:rPr>
              <a:t>25 août 1944</a:t>
            </a:r>
            <a:r>
              <a:rPr lang="fr-FR" sz="1400" dirty="0">
                <a:solidFill>
                  <a:srgbClr val="003399"/>
                </a:solidFill>
                <a:latin typeface="Calibri"/>
              </a:rPr>
              <a:t>, Paris est libérée. De Gaulle défile sur les Champs-Élysées.</a:t>
            </a:r>
          </a:p>
        </p:txBody>
      </p:sp>
      <p:sp>
        <p:nvSpPr>
          <p:cNvPr id="110" name="S110"/>
          <p:cNvSpPr>
            <a:spLocks noGrp="1"/>
          </p:cNvSpPr>
          <p:nvPr/>
        </p:nvSpPr>
        <p:spPr>
          <a:xfrm>
            <a:off x="177800" y="2984500"/>
            <a:ext cx="87884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 algn="l">
              <a:buNone/>
            </a:pPr>
            <a:r>
              <a:rPr lang="fr-FR" sz="1500" b="1" u="sng" dirty="0">
                <a:solidFill>
                  <a:srgbClr val="8B2500"/>
                </a:solidFill>
                <a:latin typeface="Calibri"/>
              </a:rPr>
              <a:t>⭐ La fin de la guerre</a:t>
            </a:r>
          </a:p>
        </p:txBody>
      </p:sp>
      <p:sp>
        <p:nvSpPr>
          <p:cNvPr id="111" name="S111"/>
          <p:cNvSpPr>
            <a:spLocks noGrp="1"/>
          </p:cNvSpPr>
          <p:nvPr/>
        </p:nvSpPr>
        <p:spPr>
          <a:xfrm>
            <a:off x="177800" y="3276600"/>
            <a:ext cx="8788400" cy="2540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txBody>
          <a:bodyPr wrap="square" lIns="91440" tIns="45720" rIns="91440" bIns="45720"/>
          <a:lstStyle/>
          <a:p>
            <a:endParaRPr lang="fr-FR" dirty="0"/>
          </a:p>
        </p:txBody>
      </p:sp>
      <p:sp>
        <p:nvSpPr>
          <p:cNvPr id="112" name="S112"/>
          <p:cNvSpPr>
            <a:spLocks noGrp="1"/>
          </p:cNvSpPr>
          <p:nvPr/>
        </p:nvSpPr>
        <p:spPr>
          <a:xfrm>
            <a:off x="228600" y="3314700"/>
            <a:ext cx="87376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 algn="l">
              <a:buNone/>
            </a:pPr>
            <a:r>
              <a:rPr lang="fr-FR" sz="1400" dirty="0">
                <a:solidFill>
                  <a:srgbClr val="003399"/>
                </a:solidFill>
                <a:latin typeface="Calibri"/>
              </a:rPr>
              <a:t>Le </a:t>
            </a:r>
            <a:r>
              <a:rPr lang="fr-FR" sz="1400" b="1" dirty="0">
                <a:solidFill>
                  <a:srgbClr val="CC0000"/>
                </a:solidFill>
                <a:latin typeface="Calibri"/>
              </a:rPr>
              <a:t>8 mai 1945</a:t>
            </a:r>
            <a:r>
              <a:rPr lang="fr-FR" sz="1400" dirty="0">
                <a:solidFill>
                  <a:srgbClr val="003399"/>
                </a:solidFill>
                <a:latin typeface="Calibri"/>
              </a:rPr>
              <a:t>, l’Allemagne capitule. La Seconde Guerre mondiale est terminée en Europe.</a:t>
            </a:r>
          </a:p>
          <a:p>
            <a:pPr marL="0" indent="0" algn="l">
              <a:buNone/>
            </a:pPr>
            <a:r>
              <a:rPr lang="fr-FR" sz="1400" dirty="0">
                <a:solidFill>
                  <a:srgbClr val="003399"/>
                </a:solidFill>
                <a:latin typeface="Calibri"/>
              </a:rPr>
              <a:t>La France est enfin </a:t>
            </a:r>
            <a:r>
              <a:rPr lang="fr-FR" sz="1400" b="1" dirty="0">
                <a:solidFill>
                  <a:srgbClr val="CC0000"/>
                </a:solidFill>
                <a:latin typeface="Calibri"/>
              </a:rPr>
              <a:t>entièrement libérée</a:t>
            </a:r>
            <a:r>
              <a:rPr lang="fr-FR" sz="1400" dirty="0">
                <a:solidFill>
                  <a:srgbClr val="003399"/>
                </a:solidFill>
                <a:latin typeface="Calibri"/>
              </a:rPr>
              <a:t> après quatre années d’Occupation.</a:t>
            </a:r>
          </a:p>
        </p:txBody>
      </p:sp>
      <p:sp>
        <p:nvSpPr>
          <p:cNvPr id="113" name="S113"/>
          <p:cNvSpPr>
            <a:spLocks noGrp="1"/>
          </p:cNvSpPr>
          <p:nvPr/>
        </p:nvSpPr>
        <p:spPr>
          <a:xfrm>
            <a:off x="177800" y="4178300"/>
            <a:ext cx="87884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0" algn="ctr">
              <a:buNone/>
            </a:pPr>
            <a:r>
              <a:rPr lang="fr-FR" sz="1400" b="1" dirty="0">
                <a:solidFill>
                  <a:srgbClr val="FFFFFF"/>
                </a:solidFill>
                <a:latin typeface="Calibri"/>
              </a:rPr>
              <a:t>Mots à retenir : Alliés</a:t>
            </a:r>
            <a:r>
              <a:rPr lang="fr-FR" sz="1400" dirty="0">
                <a:solidFill>
                  <a:srgbClr val="FFFFFF"/>
                </a:solidFill>
                <a:latin typeface="Calibri"/>
              </a:rPr>
              <a:t> • </a:t>
            </a:r>
            <a:r>
              <a:rPr lang="fr-FR" sz="1400" b="1" dirty="0">
                <a:solidFill>
                  <a:srgbClr val="FFFFFF"/>
                </a:solidFill>
                <a:latin typeface="Calibri"/>
              </a:rPr>
              <a:t>Débarquement</a:t>
            </a:r>
            <a:r>
              <a:rPr lang="fr-FR" sz="1400" dirty="0">
                <a:solidFill>
                  <a:srgbClr val="FFFFFF"/>
                </a:solidFill>
                <a:latin typeface="Calibri"/>
              </a:rPr>
              <a:t> • </a:t>
            </a:r>
            <a:r>
              <a:rPr lang="fr-FR" sz="1400" b="1" dirty="0">
                <a:solidFill>
                  <a:srgbClr val="FFFFFF"/>
                </a:solidFill>
                <a:latin typeface="Calibri"/>
              </a:rPr>
              <a:t>Opération Overlord</a:t>
            </a:r>
            <a:r>
              <a:rPr lang="fr-FR" sz="1400" dirty="0">
                <a:solidFill>
                  <a:srgbClr val="FFFFFF"/>
                </a:solidFill>
                <a:latin typeface="Calibri"/>
              </a:rPr>
              <a:t> • </a:t>
            </a:r>
            <a:r>
              <a:rPr lang="fr-FR" sz="1400" b="1" dirty="0">
                <a:solidFill>
                  <a:srgbClr val="FFFFFF"/>
                </a:solidFill>
                <a:latin typeface="Calibri"/>
              </a:rPr>
              <a:t>Libération</a:t>
            </a:r>
            <a:r>
              <a:rPr lang="fr-FR" sz="1400" dirty="0">
                <a:solidFill>
                  <a:srgbClr val="FFFFFF"/>
                </a:solidFill>
                <a:latin typeface="Calibri"/>
              </a:rPr>
              <a:t> • </a:t>
            </a:r>
            <a:r>
              <a:rPr lang="fr-FR" sz="1400" b="1" dirty="0">
                <a:solidFill>
                  <a:srgbClr val="FFFFFF"/>
                </a:solidFill>
                <a:latin typeface="Calibri"/>
              </a:rPr>
              <a:t>capitulation</a:t>
            </a:r>
          </a:p>
        </p:txBody>
      </p:sp>
    </p:spTree>
    <p:extLst>
      <p:ext uri="{BB962C8B-B14F-4D97-AF65-F5344CB8AC3E}">
        <p14:creationId xmlns:p14="http://schemas.microsoft.com/office/powerpoint/2010/main" val="3059744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4E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"/>
            <a:ext cx="8458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37160"/>
            <a:ext cx="8458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0292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9611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28930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8249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207568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246888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2862072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3255264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3648456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4041648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4434840"/>
            <a:ext cx="146304" cy="146304"/>
          </a:xfrm>
          <a:prstGeom prst="ellipse">
            <a:avLst/>
          </a:prstGeom>
          <a:solidFill>
            <a:srgbClr val="A8C8DC"/>
          </a:solidFill>
          <a:ln w="12700">
            <a:solidFill>
              <a:srgbClr val="A8C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033CC"/>
                </a:solidFill>
                <a:uFill>
                  <a:solidFill>
                    <a:srgbClr val="CC0000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📝 Leçon — Le Débarquement et la Libération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621792" y="822960"/>
            <a:ext cx="2606040" cy="402336"/>
          </a:xfrm>
          <a:prstGeom prst="rect">
            <a:avLst/>
          </a:prstGeom>
          <a:solidFill>
            <a:srgbClr val="1056A8"/>
          </a:solidFill>
          <a:ln w="12700">
            <a:solidFill>
              <a:srgbClr val="1056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82296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Le Débarquement — 6 juin 1944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" y="1243584"/>
            <a:ext cx="2606040" cy="2816352"/>
          </a:xfrm>
          <a:prstGeom prst="rect">
            <a:avLst/>
          </a:prstGeom>
          <a:solidFill>
            <a:srgbClr val="D6E8FF"/>
          </a:solidFill>
          <a:ln w="25400">
            <a:solidFill>
              <a:srgbClr val="1056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1298448"/>
            <a:ext cx="2459736" cy="26517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6 juin 1944, les Alliés (États-Unis, Royaume-Uni, Canada) débarquent en Normandie lors de l'</a:t>
            </a:r>
            <a:r>
              <a:rPr lang="en-US" sz="1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 Overlord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plus grande opération militaire de l'Histoire : 5 000 navires, 156 000 soldats en un jour.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64992" y="822960"/>
            <a:ext cx="2606040" cy="402336"/>
          </a:xfrm>
          <a:prstGeom prst="rect">
            <a:avLst/>
          </a:prstGeom>
          <a:solidFill>
            <a:srgbClr val="1D7A3A"/>
          </a:solidFill>
          <a:ln w="12700">
            <a:solidFill>
              <a:srgbClr val="1D7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82296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La Libération progressive de la France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64992" y="1243584"/>
            <a:ext cx="2606040" cy="2816352"/>
          </a:xfrm>
          <a:prstGeom prst="rect">
            <a:avLst/>
          </a:prstGeom>
          <a:solidFill>
            <a:srgbClr val="DCFCE7"/>
          </a:solidFill>
          <a:ln w="25400">
            <a:solidFill>
              <a:srgbClr val="1D7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38144" y="1298448"/>
            <a:ext cx="2459736" cy="26517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l'été 1944, les Alliés </a:t>
            </a:r>
            <a:r>
              <a:rPr lang="en-US" sz="1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libèrent la France progressivement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ville par ville.</a:t>
            </a: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août 1944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Paris est libérée. De Gaulle défile sur les Champs-Élysées.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08192" y="822960"/>
            <a:ext cx="2606040" cy="402336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08192" y="82296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fin de la guerre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08192" y="1243584"/>
            <a:ext cx="2606040" cy="2816352"/>
          </a:xfrm>
          <a:prstGeom prst="rect">
            <a:avLst/>
          </a:prstGeom>
          <a:solidFill>
            <a:srgbClr val="FFE8E0"/>
          </a:solidFill>
          <a:ln w="25400">
            <a:solidFill>
              <a:srgbClr val="CC3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1298448"/>
            <a:ext cx="2459736" cy="26517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mai 1945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l'Allemagne capitule. La Seconde Guerre mondiale est terminée en Europe.</a:t>
            </a: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France est enfin </a:t>
            </a:r>
            <a:r>
              <a:rPr lang="en-US" sz="1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entièrement libérée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après quatre années d'Occupation.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92" y="4160520"/>
            <a:ext cx="7955280" cy="566928"/>
          </a:xfrm>
          <a:prstGeom prst="rect">
            <a:avLst/>
          </a:prstGeom>
          <a:solidFill>
            <a:srgbClr val="EEF3FF"/>
          </a:solidFill>
          <a:ln w="25400">
            <a:solidFill>
              <a:srgbClr val="004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1605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44AA"/>
                </a:solidFill>
              </a:rPr>
              <a:t>Mots à retenir : </a:t>
            </a:r>
            <a:r>
              <a:rPr lang="en-US" sz="1500" b="1" dirty="0">
                <a:solidFill>
                  <a:srgbClr val="CC0000"/>
                </a:solidFill>
              </a:rPr>
              <a:t>Alliés</a:t>
            </a:r>
            <a:r>
              <a:rPr lang="en-US" sz="1500" dirty="0">
                <a:solidFill>
                  <a:srgbClr val="0044AA"/>
                </a:solidFill>
              </a:rPr>
              <a:t> • </a:t>
            </a:r>
            <a:r>
              <a:rPr lang="en-US" sz="1500" b="1" dirty="0">
                <a:solidFill>
                  <a:srgbClr val="CC0000"/>
                </a:solidFill>
              </a:rPr>
              <a:t>Débarquement</a:t>
            </a:r>
            <a:r>
              <a:rPr lang="en-US" sz="1500" dirty="0">
                <a:solidFill>
                  <a:srgbClr val="0044AA"/>
                </a:solidFill>
              </a:rPr>
              <a:t> • </a:t>
            </a:r>
            <a:r>
              <a:rPr lang="en-US" sz="1500" b="1" dirty="0">
                <a:solidFill>
                  <a:srgbClr val="CC0000"/>
                </a:solidFill>
              </a:rPr>
              <a:t>Opération Overlord</a:t>
            </a:r>
            <a:r>
              <a:rPr lang="en-US" sz="1500" dirty="0">
                <a:solidFill>
                  <a:srgbClr val="0044AA"/>
                </a:solidFill>
              </a:rPr>
              <a:t> • </a:t>
            </a:r>
            <a:r>
              <a:rPr lang="en-US" sz="1500" b="1" dirty="0">
                <a:solidFill>
                  <a:srgbClr val="CC0000"/>
                </a:solidFill>
              </a:rPr>
              <a:t>Libération</a:t>
            </a:r>
            <a:r>
              <a:rPr lang="en-US" sz="1500" dirty="0">
                <a:solidFill>
                  <a:srgbClr val="0044AA"/>
                </a:solidFill>
              </a:rPr>
              <a:t> • </a:t>
            </a:r>
            <a:r>
              <a:rPr lang="en-US" sz="1500" b="1" dirty="0">
                <a:solidFill>
                  <a:srgbClr val="CC0000"/>
                </a:solidFill>
              </a:rPr>
              <a:t>capitulation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BFB826-6970-1844-9889-44D916D2E62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d3b0272-4ed0-4312-be11-64cbe5a1340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1299</Words>
  <Application>Microsoft Macintosh PowerPoint</Application>
  <PresentationFormat>Affichage à l'écran (16:9)</PresentationFormat>
  <Paragraphs>139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Benoit Durand</cp:lastModifiedBy>
  <cp:revision>3</cp:revision>
  <dcterms:created xsi:type="dcterms:W3CDTF">2026-06-14T12:46:50Z</dcterms:created>
  <dcterms:modified xsi:type="dcterms:W3CDTF">2026-06-14T13:02:04Z</dcterms:modified>
</cp:coreProperties>
</file>