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17"/>
    <p:restoredTop sz="94610"/>
  </p:normalViewPr>
  <p:slideViewPr>
    <p:cSldViewPr snapToGrid="0" snapToObjects="1">
      <p:cViewPr>
        <p:scale>
          <a:sx n="206" d="100"/>
          <a:sy n="206" d="100"/>
        </p:scale>
        <p:origin x="472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6365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4E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"/>
            <a:ext cx="8458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0312" y="50292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0312" y="89611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" y="128930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" y="168249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" y="207568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" y="246888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" y="286207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" y="325526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" y="364845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" y="404164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" y="443484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137160"/>
            <a:ext cx="845820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28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5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Histoire — CM2 • Thème 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74720" y="548640"/>
            <a:ext cx="2194560" cy="384048"/>
          </a:xfrm>
          <a:prstGeom prst="roundRect">
            <a:avLst>
              <a:gd name="adj" fmla="val 11905"/>
            </a:avLst>
          </a:prstGeom>
          <a:solidFill>
            <a:srgbClr val="1E2F5E"/>
          </a:solidFill>
          <a:ln w="12700">
            <a:solidFill>
              <a:srgbClr val="1E2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548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2 / 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9601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33CC"/>
                </a:solidFill>
                <a:uFill>
                  <a:solidFill>
                    <a:srgbClr val="CC0000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Collaborer, résister, subir</a:t>
            </a:r>
            <a:endParaRPr lang="en-US" sz="4000" dirty="0"/>
          </a:p>
        </p:txBody>
      </p:sp>
      <p:sp>
        <p:nvSpPr>
          <p:cNvPr id="19" name="Shape 17"/>
          <p:cNvSpPr/>
          <p:nvPr/>
        </p:nvSpPr>
        <p:spPr>
          <a:xfrm>
            <a:off x="2286000" y="1920240"/>
            <a:ext cx="457200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2057400"/>
            <a:ext cx="7863840" cy="1280160"/>
          </a:xfrm>
          <a:prstGeom prst="rect">
            <a:avLst/>
          </a:prstGeom>
          <a:solidFill>
            <a:srgbClr val="EEF5FC"/>
          </a:solidFill>
          <a:ln w="25400">
            <a:solidFill>
              <a:srgbClr val="4A90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0574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152400" rIns="15240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centrale : 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à l'Occupation, tous les Français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réagissent-ils de la même façon ?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4400" y="3474720"/>
            <a:ext cx="228600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474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Collaborer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520440" y="3474720"/>
            <a:ext cx="2286000" cy="502920"/>
          </a:xfrm>
          <a:prstGeom prst="rect">
            <a:avLst/>
          </a:prstGeom>
          <a:solidFill>
            <a:srgbClr val="1D7A3A"/>
          </a:solidFill>
          <a:ln w="12700">
            <a:solidFill>
              <a:srgbClr val="1D7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3474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✊ Résister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126480" y="3474720"/>
            <a:ext cx="2286000" cy="50292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3474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✡ Subir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580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France sous l'Occupation • 1940–1944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4E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"/>
            <a:ext cx="8458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0312" y="50292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0312" y="89611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" y="128930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" y="168249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" y="207568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" y="246888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" y="286207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" y="325526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" y="364845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" y="404164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" y="443484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137160"/>
            <a:ext cx="845820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011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33CC"/>
                </a:solidFill>
                <a:uFill>
                  <a:solidFill>
                    <a:srgbClr val="CC0000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— La France en 1940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85800" y="960120"/>
            <a:ext cx="7863840" cy="1051560"/>
          </a:xfrm>
          <a:prstGeom prst="rect">
            <a:avLst/>
          </a:prstGeom>
          <a:solidFill>
            <a:srgbClr val="EEF5FC"/>
          </a:solidFill>
          <a:ln w="25400">
            <a:solidFill>
              <a:srgbClr val="4A90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10058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Juin 1940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77240" y="13716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L'armistice est signé. La France est vaincue. L'armée allemande occupe le nord et l'ouest du pays.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85800" y="2194560"/>
            <a:ext cx="7863840" cy="1051560"/>
          </a:xfrm>
          <a:prstGeom prst="rect">
            <a:avLst/>
          </a:prstGeom>
          <a:solidFill>
            <a:srgbClr val="EEF5FC"/>
          </a:solidFill>
          <a:ln w="25400">
            <a:solidFill>
              <a:srgbClr val="4A90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22402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Deux zones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77240" y="26060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zone occupée est contrôlée par l'armée allemande. La zone libre est gouvernée par le maréchal Pétain depuis Vichy.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85800" y="3429000"/>
            <a:ext cx="7863840" cy="1051560"/>
          </a:xfrm>
          <a:prstGeom prst="rect">
            <a:avLst/>
          </a:prstGeom>
          <a:solidFill>
            <a:srgbClr val="FFF4E0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4747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Et les Français ?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77240" y="38404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à l'Occupation, comment réagissent les habitants de France ? Ont-ils tous le même choix 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4E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"/>
            <a:ext cx="8458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0312" y="50292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0312" y="89611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" y="128930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" y="168249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" y="207568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" y="246888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" y="286207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" y="325526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" y="364845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" y="404164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" y="443484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137160"/>
            <a:ext cx="845820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011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33CC"/>
                </a:solidFill>
                <a:uFill>
                  <a:solidFill>
                    <a:srgbClr val="CC0000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Deux attitudes face à l'Occupation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40080" y="868680"/>
            <a:ext cx="3657600" cy="2651760"/>
          </a:xfrm>
          <a:prstGeom prst="rect">
            <a:avLst/>
          </a:prstGeom>
          <a:solidFill>
            <a:srgbClr val="F5F5F5"/>
          </a:solidFill>
          <a:ln w="38100">
            <a:solidFill>
              <a:srgbClr val="D97706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896112"/>
            <a:ext cx="3566160" cy="237744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40080" y="3538728"/>
            <a:ext cx="365760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3538728"/>
            <a:ext cx="3657600" cy="5029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Pétain serre la main d'Hitler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Montoire, 24 octobre 1940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663440" y="868680"/>
            <a:ext cx="3657600" cy="2651760"/>
          </a:xfrm>
          <a:prstGeom prst="rect">
            <a:avLst/>
          </a:prstGeom>
          <a:solidFill>
            <a:srgbClr val="F5F5F5"/>
          </a:solidFill>
          <a:ln w="38100">
            <a:solidFill>
              <a:srgbClr val="1D7A3A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9160" y="896112"/>
            <a:ext cx="3566160" cy="237744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4663440" y="3538728"/>
            <a:ext cx="3657600" cy="502920"/>
          </a:xfrm>
          <a:prstGeom prst="rect">
            <a:avLst/>
          </a:prstGeom>
          <a:solidFill>
            <a:srgbClr val="1D7A3A"/>
          </a:solidFill>
          <a:ln w="12700">
            <a:solidFill>
              <a:srgbClr val="1D7A3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663440" y="3538728"/>
            <a:ext cx="3657600" cy="5029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✊ De Gaulle appelle à résister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Londres, 18 juin 1940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40080" y="4160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deux images montrent-elles la même attitude face à l'occupant ?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4E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"/>
            <a:ext cx="8458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0312" y="50292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0312" y="89611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" y="128930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" y="168249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" y="207568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" y="246888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" y="286207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" y="325526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" y="364845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" y="404164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" y="443484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137160"/>
            <a:ext cx="845820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011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33CC"/>
                </a:solidFill>
                <a:uFill>
                  <a:solidFill>
                    <a:srgbClr val="CC0000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en groupes — 20 minutes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8580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E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groupe étudie un document et répond aux questions sur sa fiche.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360" y="1325880"/>
            <a:ext cx="2514600" cy="3291840"/>
          </a:xfrm>
          <a:prstGeom prst="rect">
            <a:avLst/>
          </a:prstGeom>
          <a:solidFill>
            <a:srgbClr val="FEF3C7"/>
          </a:solidFill>
          <a:ln w="381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1325880"/>
            <a:ext cx="251460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132588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GROUPE 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5800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collaboration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85800" y="25603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 régime de Vichy a-t-il collaboré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l'Allemagne nazie 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3886200"/>
            <a:ext cx="2331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886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Q2 — Q3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291840" y="1325880"/>
            <a:ext cx="2514600" cy="3291840"/>
          </a:xfrm>
          <a:prstGeom prst="rect">
            <a:avLst/>
          </a:prstGeom>
          <a:solidFill>
            <a:srgbClr val="DCFCE7"/>
          </a:solidFill>
          <a:ln w="38100">
            <a:solidFill>
              <a:srgbClr val="1D7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1325880"/>
            <a:ext cx="2514600" cy="658368"/>
          </a:xfrm>
          <a:prstGeom prst="rect">
            <a:avLst/>
          </a:prstGeom>
          <a:solidFill>
            <a:srgbClr val="1D7A3A"/>
          </a:solidFill>
          <a:ln w="12700">
            <a:solidFill>
              <a:srgbClr val="1D7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132588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✊ GROUPE B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383280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Résistance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3383280" y="25603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les Français ont-ils résisté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l'occupation allemande ?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383280" y="3886200"/>
            <a:ext cx="2331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D7A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3886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Q5 — Q6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989320" y="1325880"/>
            <a:ext cx="2514600" cy="3291840"/>
          </a:xfrm>
          <a:prstGeom prst="rect">
            <a:avLst/>
          </a:prstGeom>
          <a:solidFill>
            <a:srgbClr val="F3E8FF"/>
          </a:solidFill>
          <a:ln w="38100">
            <a:solidFill>
              <a:srgbClr val="6B21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89320" y="1325880"/>
            <a:ext cx="2514600" cy="65836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89320" y="132588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✡ GROUPE C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080760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persécutions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080760" y="25603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persécutions les Juifs de France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ont-ils subies sous l'Occupation ?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080760" y="3886200"/>
            <a:ext cx="2331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80760" y="3886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— Q8 — Q9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94360" y="4663440"/>
            <a:ext cx="7955280" cy="256032"/>
          </a:xfrm>
          <a:prstGeom prst="rect">
            <a:avLst/>
          </a:prstGeom>
          <a:solidFill>
            <a:srgbClr val="1E2F5E"/>
          </a:solidFill>
          <a:ln w="12700">
            <a:solidFill>
              <a:srgbClr val="1E2F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466344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Utilisez votre fiche élève • Lisez le document et répondez en phrases complètes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4E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"/>
            <a:ext cx="8458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0312" y="50292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0312" y="89611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" y="128930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" y="168249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" y="207568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" y="246888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" y="286207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" y="325526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" y="364845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" y="404164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" y="443484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137160"/>
            <a:ext cx="845820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137160"/>
            <a:ext cx="8458200" cy="5120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13716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GROUPE A — La collaboration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94360" y="777240"/>
            <a:ext cx="3200400" cy="2331720"/>
          </a:xfrm>
          <a:prstGeom prst="rect">
            <a:avLst/>
          </a:prstGeom>
          <a:solidFill>
            <a:srgbClr val="F5F5F5"/>
          </a:solidFill>
          <a:ln w="25400">
            <a:solidFill>
              <a:srgbClr val="D97706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1792" y="804672"/>
            <a:ext cx="3145536" cy="21031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94360" y="31272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Pétain serre la main d'Hitler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Montoire, 24 octobre 1940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(Bundesarchiv, CC BY-SA 3.0)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977640" y="777240"/>
            <a:ext cx="4754880" cy="2331720"/>
          </a:xfrm>
          <a:prstGeom prst="rect">
            <a:avLst/>
          </a:prstGeom>
          <a:solidFill>
            <a:srgbClr val="FEFCE8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69080" y="804672"/>
            <a:ext cx="4864608" cy="4114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Document — Discours de Pétain à la radio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octobre 1940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069080" y="1269306"/>
            <a:ext cx="4572000" cy="17373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"J'ai rencontré le chancelier Hitler. Cette rencontre a soulevé des espoirs et a provoqué des inquiétudes ; je vous dois quelques explications.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C'est dans l'honneur et pour maintenir l'unité française que j'entre aujourd'hui dans la voie de la collaboration. [...]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Cette collaboration doit être sincère."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94360" y="3593592"/>
            <a:ext cx="8138160" cy="292608"/>
          </a:xfrm>
          <a:prstGeom prst="rect">
            <a:avLst/>
          </a:prstGeom>
          <a:solidFill>
            <a:srgbClr val="1E2F5E"/>
          </a:solidFill>
          <a:ln w="12700">
            <a:solidFill>
              <a:srgbClr val="1E2F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35935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85800" y="39136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Qui le maréchal </a:t>
            </a:r>
            <a:r>
              <a:rPr lang="en-US" sz="18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Pétain</a:t>
            </a: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a-t-il rencontré à Montoire ?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85800" y="4233672"/>
            <a:ext cx="7955280" cy="2926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Quelle décision Pétain annonce-t-il aux Français dans ce discours ?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85800" y="4553712"/>
            <a:ext cx="7955280" cy="2926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Que symbolise la poignée de main sur la photographie ?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4E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"/>
            <a:ext cx="8458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0312" y="50292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0312" y="89611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" y="128930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" y="168249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" y="207568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" y="246888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" y="286207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" y="325526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" y="364845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" y="404164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" y="443484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137160"/>
            <a:ext cx="845820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137160"/>
            <a:ext cx="8458200" cy="512064"/>
          </a:xfrm>
          <a:prstGeom prst="rect">
            <a:avLst/>
          </a:prstGeom>
          <a:solidFill>
            <a:srgbClr val="1D7A3A"/>
          </a:solidFill>
          <a:ln w="12700">
            <a:solidFill>
              <a:srgbClr val="1D7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13716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✊ GROUPE B — La Résistance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94360" y="777240"/>
            <a:ext cx="5029200" cy="2834640"/>
          </a:xfrm>
          <a:prstGeom prst="rect">
            <a:avLst/>
          </a:prstGeom>
          <a:solidFill>
            <a:srgbClr val="F0FDF4"/>
          </a:solidFill>
          <a:ln w="25400">
            <a:solidFill>
              <a:srgbClr val="1D7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8046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Document — Extrait de l'Appel du 18 juin 1940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 de Gaulle, Radio de Londres (BBC)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1298448"/>
            <a:ext cx="4846320" cy="217627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"Les chefs qui [...] ont capitulé ont cédant à la panique. [...] Mais le dernier mot est-il dit ? [...]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Quoi qu'il arrive, la flamme de la résistance française ne doit pas s'éteindre et ne s'éteindra pas. [...]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Moi, Général de Gaulle, j'invite les officiers et les soldats français [...] à se mettre en rapport avec moi. Quoi qu'il arrive, la flamme de la résistance française ne doit pas s'éteindre."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Appel du 18 juin 1940 (simplifié)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806440" y="704088"/>
            <a:ext cx="2834640" cy="3803904"/>
          </a:xfrm>
          <a:prstGeom prst="rect">
            <a:avLst/>
          </a:prstGeom>
          <a:solidFill>
            <a:srgbClr val="F5F5F5"/>
          </a:solidFill>
          <a:ln w="25400">
            <a:solidFill>
              <a:srgbClr val="1D7A3A"/>
            </a:solidFill>
            <a:prstDash val="solid"/>
          </a:ln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33872" y="716652"/>
            <a:ext cx="2779776" cy="377647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29300" y="46360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Résistant FFI en uniforme, 1944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(Wikimedia Commons)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94360" y="3657600"/>
            <a:ext cx="5029200" cy="292608"/>
          </a:xfrm>
          <a:prstGeom prst="rect">
            <a:avLst/>
          </a:prstGeom>
          <a:solidFill>
            <a:srgbClr val="1E2F5E"/>
          </a:solidFill>
          <a:ln w="12700">
            <a:solidFill>
              <a:srgbClr val="1E2F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36576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85800" y="39867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Qui lance cet appel et depuis où ?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85800" y="43342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Quel est le message principal de De Gaulle ?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85800" y="46817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Q6. Qui sont les FFI ?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4E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"/>
            <a:ext cx="8458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0312" y="50292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0312" y="89611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" y="128930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" y="168249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" y="207568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" y="246888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" y="286207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" y="325526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" y="364845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" y="404164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" y="443484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137160"/>
            <a:ext cx="845820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137160"/>
            <a:ext cx="8458200" cy="512064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13716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✡ GROUPE C — Les persécutions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94360" y="777240"/>
            <a:ext cx="3291840" cy="2331720"/>
          </a:xfrm>
          <a:prstGeom prst="rect">
            <a:avLst/>
          </a:prstGeom>
          <a:solidFill>
            <a:srgbClr val="F5F5F5"/>
          </a:solidFill>
          <a:ln w="25400">
            <a:solidFill>
              <a:srgbClr val="6B21A8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1792" y="804672"/>
            <a:ext cx="3236976" cy="21031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94360" y="294436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Jenny Plocki, survivante de la Rafle du Vel d'Hiv, avec son étoile jaune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(Wikimedia Commons, CC)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069080" y="777240"/>
            <a:ext cx="4663440" cy="2651760"/>
          </a:xfrm>
          <a:prstGeom prst="rect">
            <a:avLst/>
          </a:prstGeom>
          <a:solidFill>
            <a:srgbClr val="FAF5FF"/>
          </a:solidFill>
          <a:ln w="25400">
            <a:solidFill>
              <a:srgbClr val="6B21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60520" y="804672"/>
            <a:ext cx="4480560" cy="34747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Document — Les persécutions des Juifs de France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160520" y="1188720"/>
            <a:ext cx="4480560" cy="21031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Oct. 1940 : Vichy vote le Statut des Juifs : les Juifs ne peuvent plus exercer certains métiers (professeur, médecin, commerçant...).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1941-1942 : Les Juifs doivent porter une étoile jaune cousue sur leurs vêtements pour être identifiés.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16-17 juillet 1942 : La Rafle du Vel d'Hiv. La police française arrête 13 152 Juifs à Paris, dont 4 000 enfants. Ils sont enfermés au Vélodrome d'Hiver, puis déportés vers les camps de la mort en Allemagne et en Pologne.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94360" y="3520440"/>
            <a:ext cx="8138160" cy="292608"/>
          </a:xfrm>
          <a:prstGeom prst="rect">
            <a:avLst/>
          </a:prstGeom>
          <a:solidFill>
            <a:srgbClr val="1E2F5E"/>
          </a:solidFill>
          <a:ln w="12700">
            <a:solidFill>
              <a:srgbClr val="1E2F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352044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85800" y="3858768"/>
            <a:ext cx="7955280" cy="2926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Q7. Qu'est-ce que le « Statut des Juifs » voté par Vichy ?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85800" y="4206240"/>
            <a:ext cx="7955280" cy="2926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Q8. Qui arrête les Juifs lors de la rafle du Vel d'Hiv ? Pourquoi est-ce important ?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85800" y="4553712"/>
            <a:ext cx="7955280" cy="2926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Q9. Que devient Jenny Plocki ? Que symbolise l'étoile qu'elle tient ?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4E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"/>
            <a:ext cx="8458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0312" y="50292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0312" y="89611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" y="128930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" y="168249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" y="207568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" y="246888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" y="286207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" y="325526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" y="364845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" y="404164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" y="443484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137160"/>
            <a:ext cx="845820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137160"/>
            <a:ext cx="8458200" cy="5120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13716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Correction — Groupe A : La collaboration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5800" y="822960"/>
            <a:ext cx="7955280" cy="3840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Qui </a:t>
            </a:r>
            <a:r>
              <a:rPr lang="en-US" sz="19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Pétain</a:t>
            </a: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a-t-il rencontré ?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85800" y="1234440"/>
            <a:ext cx="7955280" cy="685800"/>
          </a:xfrm>
          <a:prstGeom prst="rect">
            <a:avLst/>
          </a:prstGeom>
          <a:solidFill>
            <a:srgbClr val="F0FDF4"/>
          </a:solidFill>
          <a:ln w="25400">
            <a:solidFill>
              <a:srgbClr val="0E6B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1234440"/>
            <a:ext cx="7772400" cy="68580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E6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Pétain a rencontré Hitler (le chancelier allemand) dans la gare de Montoire, le 24 octobre 1940.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5800" y="2148840"/>
            <a:ext cx="7955280" cy="3840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Quelle decision </a:t>
            </a:r>
            <a:r>
              <a:rPr lang="en-US" sz="19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Pétain</a:t>
            </a: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</a:t>
            </a: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-t-il ?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85800" y="2560320"/>
            <a:ext cx="7955280" cy="685800"/>
          </a:xfrm>
          <a:prstGeom prst="rect">
            <a:avLst/>
          </a:prstGeom>
          <a:solidFill>
            <a:srgbClr val="F0FDF4"/>
          </a:solidFill>
          <a:ln w="25400">
            <a:solidFill>
              <a:srgbClr val="0E6B0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2560320"/>
            <a:ext cx="7772400" cy="68580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E6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Pétain annonce qu'il entre dans la voie de la collaboration : la France de Vichy accepte de travailler avec l'Allemagne nazie.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5800" y="34747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Que symbolise la poignée de main ?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85800" y="3886200"/>
            <a:ext cx="7955280" cy="685800"/>
          </a:xfrm>
          <a:prstGeom prst="rect">
            <a:avLst/>
          </a:prstGeom>
          <a:solidFill>
            <a:srgbClr val="F0FDF4"/>
          </a:solidFill>
          <a:ln w="25400">
            <a:solidFill>
              <a:srgbClr val="0E6B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886200"/>
            <a:ext cx="7772400" cy="68580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E6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La poignée de main symbolise l'alliance officielle entre le gouvernement de Vichy et l'Allemagne nazie : c'est le symbole de la collaboration.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4E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"/>
            <a:ext cx="8458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0312" y="50292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0312" y="89611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" y="128930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" y="168249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" y="207568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" y="246888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" y="286207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" y="325526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" y="364845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" y="404164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" y="443484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137160"/>
            <a:ext cx="845820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137160"/>
            <a:ext cx="8458200" cy="512064"/>
          </a:xfrm>
          <a:prstGeom prst="rect">
            <a:avLst/>
          </a:prstGeom>
          <a:solidFill>
            <a:srgbClr val="1D7A3A"/>
          </a:solidFill>
          <a:ln w="12700">
            <a:solidFill>
              <a:srgbClr val="1D7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13716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✊ Correction — Groupe B : La Résistance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5800" y="822960"/>
            <a:ext cx="7955280" cy="3840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Qui lance cet appel et depuis où ?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85800" y="1234440"/>
            <a:ext cx="7955280" cy="685800"/>
          </a:xfrm>
          <a:prstGeom prst="rect">
            <a:avLst/>
          </a:prstGeom>
          <a:solidFill>
            <a:srgbClr val="F0FDF4"/>
          </a:solidFill>
          <a:ln w="25400">
            <a:solidFill>
              <a:srgbClr val="0E6B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1234440"/>
            <a:ext cx="7772400" cy="68580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E6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 général de Gaulle lance cet appel depuis Londres, à la radio de la BBC, le 18 juin 1940.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5800" y="2148840"/>
            <a:ext cx="7955280" cy="3840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Quel est le message principal de De Gaulle ?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85800" y="2560320"/>
            <a:ext cx="7955280" cy="685800"/>
          </a:xfrm>
          <a:prstGeom prst="rect">
            <a:avLst/>
          </a:prstGeom>
          <a:solidFill>
            <a:srgbClr val="F0FDF4"/>
          </a:solidFill>
          <a:ln w="25400">
            <a:solidFill>
              <a:srgbClr val="0E6B0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2560320"/>
            <a:ext cx="7772400" cy="68580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E6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 Gaulle refuse la défaite. Il dit que la guerre continue et appelle les Français à résister : la flamme de la résistance ne s'éteindra pas.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5800" y="34747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Q6. Qui sont les FFI ?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85800" y="3886200"/>
            <a:ext cx="7955280" cy="685800"/>
          </a:xfrm>
          <a:prstGeom prst="rect">
            <a:avLst/>
          </a:prstGeom>
          <a:solidFill>
            <a:srgbClr val="F0FDF4"/>
          </a:solidFill>
          <a:ln w="25400">
            <a:solidFill>
              <a:srgbClr val="0E6B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886200"/>
            <a:ext cx="7772400" cy="68580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E6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Les FFI (Forces Françaises de l'Intérieur) sont les résistants qui se battent en France contre l'occupant allemand : maquisards, réseaux secrets...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4E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"/>
            <a:ext cx="8458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0312" y="50292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0312" y="89611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" y="128930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" y="168249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" y="207568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" y="246888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" y="286207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" y="325526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" y="364845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" y="404164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" y="443484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137160"/>
            <a:ext cx="845820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137160"/>
            <a:ext cx="8458200" cy="512064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13716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✡ Correction — Groupe C : Les persécutions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5800" y="822960"/>
            <a:ext cx="7955280" cy="3840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Q7. Qu'est-ce que le Statut des Juifs ?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85800" y="1234440"/>
            <a:ext cx="7955280" cy="685800"/>
          </a:xfrm>
          <a:prstGeom prst="rect">
            <a:avLst/>
          </a:prstGeom>
          <a:solidFill>
            <a:srgbClr val="F0FDF4"/>
          </a:solidFill>
          <a:ln w="25400">
            <a:solidFill>
              <a:srgbClr val="0E6B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1234440"/>
            <a:ext cx="7772400" cy="68580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E6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 Statut des Juifs est une loi votée par Vichy en octobre 1940 qui interdit aux Juifs d'exercer certains métiers et leur retire des droits.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5800" y="2148840"/>
            <a:ext cx="7955280" cy="3840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Q8. Qui arrête les Juifs lors de la rafle ?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85800" y="2560320"/>
            <a:ext cx="7955280" cy="685800"/>
          </a:xfrm>
          <a:prstGeom prst="rect">
            <a:avLst/>
          </a:prstGeom>
          <a:solidFill>
            <a:srgbClr val="F0FDF4"/>
          </a:solidFill>
          <a:ln w="25400">
            <a:solidFill>
              <a:srgbClr val="0E6B0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2560320"/>
            <a:ext cx="7772400" cy="68580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E6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Ce sont les policiers français (et non les soldats allemands) qui arrêtent les Juifs. Cela montre que Vichy a collaboré activement à la persécution.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5800" y="34747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Q9. Que symbolise l'étoile que tient Jenny Plocki ?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85800" y="3886200"/>
            <a:ext cx="7955280" cy="685800"/>
          </a:xfrm>
          <a:prstGeom prst="rect">
            <a:avLst/>
          </a:prstGeom>
          <a:solidFill>
            <a:srgbClr val="F0FDF4"/>
          </a:solidFill>
          <a:ln w="25400">
            <a:solidFill>
              <a:srgbClr val="0E6B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886200"/>
            <a:ext cx="7772400" cy="68580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E6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L'étoile jaune marquait les Juifs pour les identifier et les discriminer. Jenny Plocki a été déportée ; elle est l'une des rares survivantes.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4E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"/>
            <a:ext cx="8458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286CE058-311A-0E4F-B35F-20CFAE8D9FA7}"/>
              </a:ext>
            </a:extLst>
          </p:cNvPr>
          <p:cNvSpPr txBox="1"/>
          <p:nvPr/>
        </p:nvSpPr>
        <p:spPr>
          <a:xfrm>
            <a:off x="446509" y="101600"/>
            <a:ext cx="8636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000" b="1">
                <a:solidFill>
                  <a:srgbClr val="0033CC"/>
                </a:solidFill>
              </a:rPr>
              <a:t>📝 Leçon S2 — Collaborer, résister, subir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82F5EF81-F820-3645-A14C-46B6A6631EFF}"/>
              </a:ext>
            </a:extLst>
          </p:cNvPr>
          <p:cNvSpPr txBox="1"/>
          <p:nvPr/>
        </p:nvSpPr>
        <p:spPr>
          <a:xfrm>
            <a:off x="446509" y="558800"/>
            <a:ext cx="863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 u="sng">
                <a:solidFill>
                  <a:srgbClr val="CC0000"/>
                </a:solidFill>
              </a:rPr>
              <a:t>🤝 LA COLLABORATION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0C5CD000-CE6D-E648-B609-F21744447407}"/>
              </a:ext>
            </a:extLst>
          </p:cNvPr>
          <p:cNvSpPr txBox="1"/>
          <p:nvPr/>
        </p:nvSpPr>
        <p:spPr>
          <a:xfrm>
            <a:off x="573509" y="777452"/>
            <a:ext cx="85090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l">
              <a:spcBef>
                <a:spcPts val="80"/>
              </a:spcBef>
              <a:buNone/>
            </a:pPr>
            <a:r>
              <a:rPr lang="fr-FR" b="1" dirty="0">
                <a:solidFill>
                  <a:srgbClr val="CC0000"/>
                </a:solidFill>
                <a:latin typeface="Calibri"/>
              </a:rPr>
              <a:t>Le gouvernement de Vichy</a:t>
            </a:r>
            <a:r>
              <a:rPr lang="fr-FR" dirty="0">
                <a:solidFill>
                  <a:srgbClr val="0033CC"/>
                </a:solidFill>
                <a:latin typeface="Calibri"/>
              </a:rPr>
              <a:t> choisit de collaborer avec l'Allemagne, Pétain veut préserver</a:t>
            </a:r>
          </a:p>
          <a:p>
            <a:pPr marL="0" indent="0" algn="l">
              <a:spcBef>
                <a:spcPts val="80"/>
              </a:spcBef>
              <a:buNone/>
            </a:pPr>
            <a:r>
              <a:rPr lang="fr-FR" dirty="0">
                <a:solidFill>
                  <a:srgbClr val="0033CC"/>
                </a:solidFill>
                <a:latin typeface="Calibri"/>
              </a:rPr>
              <a:t>l’unité française.</a:t>
            </a:r>
          </a:p>
          <a:p>
            <a:pPr marL="0" indent="0" algn="l">
              <a:spcBef>
                <a:spcPts val="80"/>
              </a:spcBef>
              <a:buNone/>
            </a:pPr>
            <a:r>
              <a:rPr lang="fr-FR" dirty="0">
                <a:solidFill>
                  <a:srgbClr val="0033CC"/>
                </a:solidFill>
                <a:latin typeface="Calibri"/>
              </a:rPr>
              <a:t>Pétain rencontre Hitler à Montoire (24 oct. 1940).</a:t>
            </a:r>
          </a:p>
          <a:p>
            <a:pPr marL="0" indent="0" algn="l">
              <a:spcBef>
                <a:spcPts val="80"/>
              </a:spcBef>
              <a:buNone/>
            </a:pPr>
            <a:r>
              <a:rPr lang="fr-FR" dirty="0">
                <a:solidFill>
                  <a:srgbClr val="0033CC"/>
                </a:solidFill>
                <a:latin typeface="Calibri"/>
              </a:rPr>
              <a:t>Vichy applique des </a:t>
            </a:r>
            <a:r>
              <a:rPr lang="fr-FR" b="1" dirty="0">
                <a:solidFill>
                  <a:srgbClr val="CC0000"/>
                </a:solidFill>
                <a:latin typeface="Calibri"/>
              </a:rPr>
              <a:t>lois antisémites</a:t>
            </a:r>
            <a:r>
              <a:rPr lang="fr-FR" dirty="0">
                <a:solidFill>
                  <a:srgbClr val="0033CC"/>
                </a:solidFill>
                <a:latin typeface="Calibri"/>
              </a:rPr>
              <a:t> contre les Juifs.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1CE6732F-ED45-1A4C-B170-47656D102343}"/>
              </a:ext>
            </a:extLst>
          </p:cNvPr>
          <p:cNvSpPr txBox="1"/>
          <p:nvPr/>
        </p:nvSpPr>
        <p:spPr>
          <a:xfrm>
            <a:off x="446509" y="2019300"/>
            <a:ext cx="863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 u="sng">
                <a:solidFill>
                  <a:srgbClr val="CC0000"/>
                </a:solidFill>
              </a:rPr>
              <a:t>✊ LA RÉSISTANCE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C866DBE8-843E-784F-BB05-721C12891895}"/>
              </a:ext>
            </a:extLst>
          </p:cNvPr>
          <p:cNvSpPr txBox="1"/>
          <p:nvPr/>
        </p:nvSpPr>
        <p:spPr>
          <a:xfrm>
            <a:off x="573509" y="2336800"/>
            <a:ext cx="8509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l">
              <a:spcBef>
                <a:spcPts val="80"/>
              </a:spcBef>
              <a:buNone/>
            </a:pPr>
            <a:r>
              <a:rPr lang="fr-FR" b="1" dirty="0">
                <a:solidFill>
                  <a:srgbClr val="CC0000"/>
                </a:solidFill>
                <a:latin typeface="Calibri"/>
              </a:rPr>
              <a:t>Le général de Gaulle</a:t>
            </a:r>
            <a:r>
              <a:rPr lang="fr-FR" dirty="0">
                <a:solidFill>
                  <a:srgbClr val="0033CC"/>
                </a:solidFill>
                <a:latin typeface="Calibri"/>
              </a:rPr>
              <a:t> appelle à continuer le combat depuis Londres.</a:t>
            </a:r>
          </a:p>
          <a:p>
            <a:pPr marL="0" indent="0" algn="l">
              <a:spcBef>
                <a:spcPts val="80"/>
              </a:spcBef>
              <a:buNone/>
            </a:pPr>
            <a:r>
              <a:rPr lang="fr-FR" dirty="0">
                <a:solidFill>
                  <a:srgbClr val="0033CC"/>
                </a:solidFill>
                <a:latin typeface="Calibri"/>
              </a:rPr>
              <a:t>Des Français rejoignent la </a:t>
            </a:r>
            <a:r>
              <a:rPr lang="fr-FR" b="1" dirty="0">
                <a:solidFill>
                  <a:srgbClr val="0033CC"/>
                </a:solidFill>
                <a:latin typeface="Calibri"/>
              </a:rPr>
              <a:t>France Libre</a:t>
            </a:r>
            <a:r>
              <a:rPr lang="fr-FR" dirty="0">
                <a:solidFill>
                  <a:srgbClr val="0033CC"/>
                </a:solidFill>
                <a:latin typeface="Calibri"/>
              </a:rPr>
              <a:t> ou la résistance intérieure (maquis, FFI).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2F3697CD-F1F7-CB4A-A0DA-45A8222FA6C7}"/>
              </a:ext>
            </a:extLst>
          </p:cNvPr>
          <p:cNvSpPr txBox="1"/>
          <p:nvPr/>
        </p:nvSpPr>
        <p:spPr>
          <a:xfrm>
            <a:off x="446509" y="3187700"/>
            <a:ext cx="863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 u="sng">
                <a:solidFill>
                  <a:srgbClr val="CC0000"/>
                </a:solidFill>
              </a:rPr>
              <a:t>✡ LES PERSÉCUTIONS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1978C561-2B16-D24C-9B52-A8D26887CBDF}"/>
              </a:ext>
            </a:extLst>
          </p:cNvPr>
          <p:cNvSpPr txBox="1"/>
          <p:nvPr/>
        </p:nvSpPr>
        <p:spPr>
          <a:xfrm>
            <a:off x="573509" y="3449598"/>
            <a:ext cx="8509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l">
              <a:spcBef>
                <a:spcPts val="80"/>
              </a:spcBef>
              <a:buNone/>
            </a:pPr>
            <a:r>
              <a:rPr lang="fr-FR" dirty="0">
                <a:solidFill>
                  <a:srgbClr val="0033CC"/>
                </a:solidFill>
                <a:latin typeface="Calibri"/>
              </a:rPr>
              <a:t>Les Juifs de France subissent les </a:t>
            </a:r>
            <a:r>
              <a:rPr lang="fr-FR" b="1" dirty="0">
                <a:solidFill>
                  <a:srgbClr val="CC0000"/>
                </a:solidFill>
                <a:latin typeface="Calibri"/>
              </a:rPr>
              <a:t>lois de Vichy</a:t>
            </a:r>
            <a:r>
              <a:rPr lang="fr-FR" dirty="0">
                <a:solidFill>
                  <a:srgbClr val="0033CC"/>
                </a:solidFill>
                <a:latin typeface="Calibri"/>
              </a:rPr>
              <a:t> : exclusion, étoile jaune...</a:t>
            </a:r>
          </a:p>
          <a:p>
            <a:pPr marL="0" indent="0" algn="l">
              <a:spcBef>
                <a:spcPts val="80"/>
              </a:spcBef>
              <a:buNone/>
            </a:pPr>
            <a:r>
              <a:rPr lang="fr-FR" dirty="0">
                <a:solidFill>
                  <a:srgbClr val="0033CC"/>
                </a:solidFill>
                <a:latin typeface="Calibri"/>
              </a:rPr>
              <a:t>Juillet 1942 : la </a:t>
            </a:r>
            <a:r>
              <a:rPr lang="fr-FR" b="1" dirty="0">
                <a:solidFill>
                  <a:srgbClr val="CC0000"/>
                </a:solidFill>
                <a:latin typeface="Calibri"/>
              </a:rPr>
              <a:t>Rafle du Vel d'Hiv</a:t>
            </a:r>
            <a:r>
              <a:rPr lang="fr-FR" dirty="0">
                <a:solidFill>
                  <a:srgbClr val="0033CC"/>
                </a:solidFill>
                <a:latin typeface="Calibri"/>
              </a:rPr>
              <a:t> : 13 152 Juifs arrêtés par la police française.</a:t>
            </a:r>
          </a:p>
          <a:p>
            <a:pPr marL="0" indent="0" algn="l">
              <a:spcBef>
                <a:spcPts val="80"/>
              </a:spcBef>
              <a:buNone/>
            </a:pPr>
            <a:r>
              <a:rPr lang="fr-FR" dirty="0">
                <a:solidFill>
                  <a:srgbClr val="0033CC"/>
                </a:solidFill>
                <a:latin typeface="Calibri"/>
              </a:rPr>
              <a:t>Ils sont </a:t>
            </a:r>
            <a:r>
              <a:rPr lang="fr-FR" b="1" dirty="0">
                <a:solidFill>
                  <a:srgbClr val="CC0000"/>
                </a:solidFill>
                <a:latin typeface="Calibri"/>
              </a:rPr>
              <a:t>déportés</a:t>
            </a:r>
            <a:r>
              <a:rPr lang="fr-FR" dirty="0">
                <a:solidFill>
                  <a:srgbClr val="0033CC"/>
                </a:solidFill>
                <a:latin typeface="Calibri"/>
              </a:rPr>
              <a:t> vers les camps de la mort.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6C00F1D-DC8E-BF47-8CED-7E904EB5CB42}"/>
              </a:ext>
            </a:extLst>
          </p:cNvPr>
          <p:cNvSpPr/>
          <p:nvPr/>
        </p:nvSpPr>
        <p:spPr>
          <a:xfrm>
            <a:off x="254000" y="4559300"/>
            <a:ext cx="8636000" cy="508000"/>
          </a:xfrm>
          <a:prstGeom prst="rect">
            <a:avLst/>
          </a:prstGeom>
          <a:solidFill>
            <a:srgbClr val="B8D4F8"/>
          </a:solidFill>
          <a:ln w="12700" cap="flat" cmpd="sng" algn="ctr">
            <a:solidFill>
              <a:srgbClr val="0033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145FC1C9-A7BE-6340-AB58-0C201373AA42}"/>
              </a:ext>
            </a:extLst>
          </p:cNvPr>
          <p:cNvSpPr txBox="1"/>
          <p:nvPr/>
        </p:nvSpPr>
        <p:spPr>
          <a:xfrm>
            <a:off x="304800" y="4584700"/>
            <a:ext cx="8534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ctr">
              <a:buNone/>
            </a:pPr>
            <a:r>
              <a:rPr lang="fr-FR" sz="1300" b="1" dirty="0">
                <a:solidFill>
                  <a:srgbClr val="0033CC"/>
                </a:solidFill>
              </a:rPr>
              <a:t>Mots à retenir : </a:t>
            </a:r>
            <a:r>
              <a:rPr lang="fr-FR" sz="1300" b="1" dirty="0">
                <a:solidFill>
                  <a:srgbClr val="CC0000"/>
                </a:solidFill>
              </a:rPr>
              <a:t>collaboration</a:t>
            </a:r>
            <a:r>
              <a:rPr lang="fr-FR" sz="1300" dirty="0">
                <a:solidFill>
                  <a:srgbClr val="0033CC"/>
                </a:solidFill>
              </a:rPr>
              <a:t> • </a:t>
            </a:r>
            <a:r>
              <a:rPr lang="fr-FR" sz="1300" b="1" dirty="0">
                <a:solidFill>
                  <a:srgbClr val="CC0000"/>
                </a:solidFill>
              </a:rPr>
              <a:t>résistance</a:t>
            </a:r>
            <a:r>
              <a:rPr lang="fr-FR" sz="1300" dirty="0">
                <a:solidFill>
                  <a:srgbClr val="0033CC"/>
                </a:solidFill>
              </a:rPr>
              <a:t> • </a:t>
            </a:r>
            <a:r>
              <a:rPr lang="fr-FR" sz="1300" b="1" dirty="0">
                <a:solidFill>
                  <a:srgbClr val="CC0000"/>
                </a:solidFill>
              </a:rPr>
              <a:t>déportation</a:t>
            </a:r>
            <a:r>
              <a:rPr lang="fr-FR" sz="1300" dirty="0">
                <a:solidFill>
                  <a:srgbClr val="0033CC"/>
                </a:solidFill>
              </a:rPr>
              <a:t> • </a:t>
            </a:r>
            <a:r>
              <a:rPr lang="fr-FR" sz="1300" b="1" dirty="0">
                <a:solidFill>
                  <a:srgbClr val="CC0000"/>
                </a:solidFill>
              </a:rPr>
              <a:t>antisémitisme</a:t>
            </a:r>
            <a:r>
              <a:rPr lang="fr-FR" sz="1300" dirty="0">
                <a:solidFill>
                  <a:srgbClr val="0033CC"/>
                </a:solidFill>
              </a:rPr>
              <a:t> • </a:t>
            </a:r>
            <a:r>
              <a:rPr lang="fr-FR" sz="1300" b="1" dirty="0">
                <a:solidFill>
                  <a:srgbClr val="CC0000"/>
                </a:solidFill>
              </a:rPr>
              <a:t>maquis</a:t>
            </a:r>
          </a:p>
        </p:txBody>
      </p:sp>
    </p:spTree>
    <p:extLst>
      <p:ext uri="{BB962C8B-B14F-4D97-AF65-F5344CB8AC3E}">
        <p14:creationId xmlns:p14="http://schemas.microsoft.com/office/powerpoint/2010/main" val="2241462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43035D-CACE-374E-B188-AC5EA7AA0255}">
  <we:reference id="wa200005566" version="3.0.1.2" store="fr-FR" storeType="OMEX"/>
  <we:alternateReferences>
    <we:reference id="wa200005566" version="3.0.1.2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04D3D9B1-6288-234D-A94A-F08D45179DC4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ae62bd51-dfd2-4349-b888-46dd82d38a1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1936</TotalTime>
  <Words>1177</Words>
  <Application>Microsoft Macintosh PowerPoint</Application>
  <PresentationFormat>Affichage à l'écran (16:9)</PresentationFormat>
  <Paragraphs>128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Histoire CM2 — S2 — Collaborer, résister, subir</dc:title>
  <dc:subject>PptxGenJS Presentation</dc:subject>
  <dc:creator>PptxGenJS</dc:creator>
  <cp:lastModifiedBy>Benoit Durand</cp:lastModifiedBy>
  <cp:revision>4</cp:revision>
  <dcterms:created xsi:type="dcterms:W3CDTF">2026-06-02T06:14:39Z</dcterms:created>
  <dcterms:modified xsi:type="dcterms:W3CDTF">2026-06-04T19:49:02Z</dcterms:modified>
</cp:coreProperties>
</file>